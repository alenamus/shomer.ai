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02809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94560"/>
            <a:ext cx="6035040" cy="603504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pic>
        <p:nvPicPr>
          <p:cNvPr id="4" name="Image 0" descr="C:\AIDevelopmentCourse\Shomer.AI\assets\hero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402336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Shomer.AI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731520" y="2487168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שומר.AI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1520" y="324612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Context-Aware Bullying Detection for Hebrew Children's Chats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בינה מלאכותית לזיהוי תוכן פוגעני בשיחות ילדים — בעברית, בהקשר, בזמן אמת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4983480"/>
            <a:ext cx="67665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1206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Alona Musiyko</a:t>
            </a:r>
            <a:endParaRPr lang="en-US" sz="1600" dirty="0"/>
          </a:p>
          <a:p>
            <a:pPr algn="l" indent="0" marL="0">
              <a:buNone/>
            </a:pPr>
            <a:r>
              <a:rPr lang="en-US" sz="1250" i="1" dirty="0">
                <a:solidFill>
                  <a:srgbClr val="9FB3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Project  ·  Supervisor: Dr. Yoram Segal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389120"/>
            <a:ext cx="4754880" cy="475488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Acknowledgements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04672" y="1234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תודות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98480" y="56692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E45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188720" y="1920240"/>
            <a:ext cx="9784080" cy="1737360"/>
          </a:xfrm>
          <a:prstGeom prst="roundRect">
            <a:avLst>
              <a:gd name="adj" fmla="val 5263"/>
            </a:avLst>
          </a:prstGeom>
          <a:solidFill>
            <a:srgbClr val="24375C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44784" y="2084832"/>
            <a:ext cx="109728" cy="14081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21214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ד"ר יורם סגל — המרצה והמנחה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463040" y="2670048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השיעורים והמטלות המעניינים והמאתגרים, ועל ההכוונה והליווי לאורך כל הדרך.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3977640"/>
            <a:ext cx="9784080" cy="1737360"/>
          </a:xfrm>
          <a:prstGeom prst="roundRect">
            <a:avLst>
              <a:gd name="adj" fmla="val 5263"/>
            </a:avLst>
          </a:prstGeom>
          <a:solidFill>
            <a:srgbClr val="24375C"/>
          </a:solidFill>
          <a:ln w="19050">
            <a:solidFill>
              <a:srgbClr val="F2B70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844784" y="4142232"/>
            <a:ext cx="109728" cy="1408176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41788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דימה שלייב — בעלי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463040" y="4727448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שנתן לי את הזמן וההזדמנות ללמוד, להעמיק ולהשתפר בתחום ה-AI.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198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Shomer.AI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198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2801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הורים אינם מודעים בזמן אמת לבריונות בשיחות ילדיהם, והכלים הקיימים שופטים כל הודעה במנותק — ומפספסים את ההקשר.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97680" y="1691640"/>
            <a:ext cx="7360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בריונות מקוונת בקרב ילדים היא תופעה נפוצה ומסכנת — אך מרבית ההורים אינם מודעים לה בזמן אמת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שיחות הילדים מתנהלות ב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עברית</a:t>
            </a:r>
            <a:pPr rtl="1" algn="r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שפה שכלי הבטיחות הקיימים כמעט אינם תומכים בה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הכלים הקיימים בוחנים כל הודעה בנפרד (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context-blind</a:t>
            </a:r>
            <a:pPr rtl="1" algn="r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ומחמיצים איומים נסתרים, הסלמה ותבניות פגיעה הנבנות לאורך שיחה שלמה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מעקב מלא אחר ההתכתבויות פוגע ב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פרטיות</a:t>
            </a:r>
            <a:pPr rtl="1" algn="r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הילד ובאמון בין ההורה לילד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עומס של 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</a:t>
            </a:r>
            <a:pPr rtl="1" algn="r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גורם להורים להפסיק להתייחס לאזהרות — ומאיין את ערך הכלי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10896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828800"/>
            <a:ext cx="2779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סתם צוחקים יחד 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2880360"/>
            <a:ext cx="2743200" cy="868680"/>
          </a:xfrm>
          <a:prstGeom prst="roundRect">
            <a:avLst>
              <a:gd name="adj" fmla="val 14737"/>
            </a:avLst>
          </a:prstGeom>
          <a:solidFill>
            <a:srgbClr val="E45756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61872" y="2880360"/>
            <a:ext cx="24140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כולם נגדך, תיעלם כבר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32004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3931920"/>
            <a:ext cx="28712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אתה יודע מה מחכה לך מחר…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88720" y="498348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B705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53312" y="4983480"/>
            <a:ext cx="23225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פוגעני או תמים?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Shomer.AI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2801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 &amp; Value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Shomer.AI מזהה תוכן פוגעני בעברית תוך התחשבות בהקשר השיחה, ומתריעה להורה רק כשמדובר באירוע אמיתי.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06240" y="1828800"/>
            <a:ext cx="7452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pPr rtl="1" algn="r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ניטור שיחות בזמן אמת וזיהוי תוכן פוגעני בעברית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</a:t>
            </a:r>
            <a:pPr rtl="1" algn="r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ניתוח עד 5 הודעות אחורה לזיהוי הסלמות, התקפות קבוצתיות ואיומים נסתרים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Privacy-by-design</a:t>
            </a:r>
            <a:pPr rtl="1" algn="r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ריצה ברקע בלבד, ללא גישה לתמונות, אנשי קשר או תוכן לא-רלוונטי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Hebrew-native</a:t>
            </a:r>
            <a:pPr rtl="1" algn="r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בנויה לשפה שהכלים הקיימים מתעלמים ממנה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false-alarms</a:t>
            </a:r>
            <a:pPr rtl="1" algn="r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מתריעה רק על מצב פוגעני אמיתי, ללא הצפת התרעות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74520"/>
            <a:ext cx="3200400" cy="9144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020824"/>
            <a:ext cx="30540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9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55.9 → 26.5%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49808" y="2624328"/>
            <a:ext cx="29809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התרעות-שווא: context-aware מול context-blind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429000"/>
            <a:ext cx="320040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575304"/>
            <a:ext cx="30540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→ 100%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49808" y="4178808"/>
            <a:ext cx="29809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איומים נסתרים: עם הקשר מול בלי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98348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983480"/>
            <a:ext cx="3200400" cy="9144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5129784"/>
            <a:ext cx="30540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Hebrew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49808" y="5733288"/>
            <a:ext cx="29809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סיווג נֵייטיב + הקשר שיחתי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Shomer.AI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2801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הילד מעלה הודעות לשרת; השרת מחלץ טקסט, מסווג, מנתב ושופט הקשר; וההורה מקבל התרעה ב-Web App וב-Gmail.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14884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24942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 Client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11480" y="2587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· אפליקציית הילד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0175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capture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70332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7033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17520" y="1828800"/>
            <a:ext cx="612648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901952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 — FastAPI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00400" y="2697480"/>
            <a:ext cx="1024128" cy="137160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82112" y="2880360"/>
            <a:ext cx="1060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154680" y="3685032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EA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תמונה→טקסט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33672" y="3383280"/>
            <a:ext cx="150876" cy="0"/>
          </a:xfrm>
          <a:prstGeom prst="line">
            <a:avLst/>
          </a:prstGeom>
          <a:noFill/>
          <a:ln w="25400">
            <a:solidFill>
              <a:srgbClr val="6B7A8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93692" y="2697480"/>
            <a:ext cx="1024128" cy="1371600"/>
          </a:xfrm>
          <a:prstGeom prst="roundRect">
            <a:avLst>
              <a:gd name="adj" fmla="val 625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75404" y="2880360"/>
            <a:ext cx="1060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DictaBERT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47972" y="3685032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EA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סיווג 5 מחלקות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26964" y="3383280"/>
            <a:ext cx="150876" cy="0"/>
          </a:xfrm>
          <a:prstGeom prst="line">
            <a:avLst/>
          </a:prstGeom>
          <a:noFill/>
          <a:ln w="25400">
            <a:solidFill>
              <a:srgbClr val="6B7A8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86984" y="2697480"/>
            <a:ext cx="1024128" cy="1371600"/>
          </a:xfrm>
          <a:prstGeom prst="roundRect">
            <a:avLst>
              <a:gd name="adj" fmla="val 6250"/>
            </a:avLst>
          </a:prstGeom>
          <a:solidFill>
            <a:srgbClr val="0B7285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68696" y="2880360"/>
            <a:ext cx="1060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541264" y="3685032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EA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ניתוב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20256" y="3383280"/>
            <a:ext cx="150876" cy="0"/>
          </a:xfrm>
          <a:prstGeom prst="line">
            <a:avLst/>
          </a:prstGeom>
          <a:noFill/>
          <a:ln w="25400">
            <a:solidFill>
              <a:srgbClr val="6B7A8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780276" y="2697480"/>
            <a:ext cx="1024128" cy="137160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61988" y="2880360"/>
            <a:ext cx="1060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34556" y="3685032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EA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שיפוט הקשר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813548" y="3383280"/>
            <a:ext cx="150876" cy="0"/>
          </a:xfrm>
          <a:prstGeom prst="line">
            <a:avLst/>
          </a:prstGeom>
          <a:noFill/>
          <a:ln w="25400">
            <a:solidFill>
              <a:srgbClr val="6B7A8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73568" y="2697480"/>
            <a:ext cx="1024128" cy="1371600"/>
          </a:xfrm>
          <a:prstGeom prst="roundRect">
            <a:avLst>
              <a:gd name="adj" fmla="val 6250"/>
            </a:avLst>
          </a:prstGeom>
          <a:solidFill>
            <a:srgbClr val="C44E00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955280" y="2880360"/>
            <a:ext cx="1060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927848" y="3685032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EA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התרעה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00400" y="42062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flow:  capture → OCR → DictaBERT → Triage → Context Agent → Alert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784080" y="214884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784080" y="224942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 Client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829800" y="2587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E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צד ההורה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921240" y="301752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9921240" y="30175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921240" y="370332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9921240" y="37033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(Email)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414016" y="3246120"/>
            <a:ext cx="566928" cy="0"/>
          </a:xfrm>
          <a:prstGeom prst="line">
            <a:avLst/>
          </a:prstGeom>
          <a:noFill/>
          <a:ln w="444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2331720" y="28712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80576" y="3246120"/>
            <a:ext cx="566928" cy="0"/>
          </a:xfrm>
          <a:prstGeom prst="line">
            <a:avLst/>
          </a:prstGeom>
          <a:noFill/>
          <a:ln w="44450">
            <a:solidFill>
              <a:srgbClr val="C44E00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9125712" y="287121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הפירוט המלא של מתי מופעל ה-Context Agent ומתי נשלחת התרעה — בשקופית הבאה (Decision Logic).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864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Shomer.AI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2801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— Child &amp; Parent Flows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שתי הזרימות מקצה לקצה: צד הילד (לכידה ועיבוד) וצד ההורה (התאמה, קבלת התרעות ותגובה).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63640" y="1600200"/>
            <a:ext cx="5440680" cy="4572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63640" y="1600200"/>
            <a:ext cx="5440680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618488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 Flow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1618488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זרימת הילד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46520" y="2331720"/>
            <a:ext cx="5074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1.  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App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לוכד טקסט (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pPr rtl="1" algn="r"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וצילומי מסך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2.  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Pre-Filter</a:t>
            </a:r>
            <a:pPr rtl="1" algn="r"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מקומי שומר רק עברית (פרטיות + דדופ)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3.  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העלאה מוצפנת לשרת ב-</a:t>
            </a:r>
            <a:pPr rtl="1" algn="r"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4.  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</a:t>
            </a:r>
            <a:pPr rtl="1" algn="r"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מחלץ טקסט מתמונות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5.  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DictaBERT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מסווג ל-5 מחלקות (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context-blind</a:t>
            </a:r>
            <a:pPr rtl="1" algn="r"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6.  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מנתב; גבול/אלימות → </a:t>
            </a:r>
            <a:pPr rtl="1" algn="r"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Agent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7.  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Agent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pPr rtl="1" algn="r"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קורא 5 תורים ושופט הקשר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8.  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Manager</a:t>
            </a:r>
            <a:pPr rtl="1" algn="r"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מסמן מצב פוגעני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5440680" cy="4572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00200"/>
            <a:ext cx="544068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618488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 Flow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" y="1618488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זרימת ההורה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377440"/>
            <a:ext cx="5074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1.  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ההורה נרשם ב-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pPr rtl="1" algn="r"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2.  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 התאמה (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נשלח ב-</a:t>
            </a:r>
            <a:pPr rtl="1" algn="r" indent="0" marL="0">
              <a:spcAft>
                <a:spcPts val="11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3.  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ההורה מזין את הקוד באפליקציית הילד → </a:t>
            </a:r>
            <a:pPr rtl="1" algn="r" indent="0" marL="0">
              <a:spcAft>
                <a:spcPts val="11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4.  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Manager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שולח התרעות ב-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ל-</a:t>
            </a:r>
            <a:pPr rtl="1" algn="r" indent="0" marL="0">
              <a:spcAft>
                <a:spcPts val="11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5.  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ההורה סוקר ב-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ומגיב (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 / label / severity</a:t>
            </a:r>
            <a:pPr rtl="1" algn="r"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6.  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התיוגים חוזרים כנתוני אימון (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pPr rtl="1" algn="r"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Shomer.AI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2801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Logic — 5 Classes → Triage → Context Agent → Alert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ה-DictaBERT מפיק אחת מ-5 מחלקות עם רמת ודאות; ה-Triage מחליט אם להשתיק, להתריע ישירות, או להעביר ל-Context Agent.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377440"/>
                <a:gridCol w="219456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Classifier output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Triage decision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Context Agent?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Outcome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prob_offensive ≤ 0.3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A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alert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abusive / hate · prob ≥ 0.7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alert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A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 sent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pornographic (any prob)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alert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A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 sent — always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violence (any prob)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4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always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4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 if CA confirms threat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borderline · prob 0.3–0.7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4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4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 decides → alert / silent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754880"/>
            <a:ext cx="109270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classes</a:t>
            </a:r>
            <a:pPr rtl="1" algn="r" indent="0" marL="0">
              <a:buNone/>
            </a:pPr>
            <a:r>
              <a:rPr lang="en-US" sz="14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ה-DictaBERT מפיק אחת מ-5 מחלקות עם </a:t>
            </a:r>
            <a:pPr rtl="1" algn="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prob_offensive</a:t>
            </a:r>
            <a:pPr rtl="1" algn="r"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(רמת ודאות פוגענית)</a:t>
            </a:r>
            <a:endParaRPr lang="en-US" sz="1450" dirty="0"/>
          </a:p>
          <a:p>
            <a:pPr rtl="1" algn="r"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pPr rtl="1" algn="r" indent="0" marL="0">
              <a:buNone/>
            </a:pPr>
            <a:r>
              <a:rPr lang="en-US" sz="14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ודאות נמוכה → שקט · ודאות גבוהה → התרעה ישירה · ביניים → </a:t>
            </a:r>
            <a:pPr rtl="1" algn="r"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Agent</a:t>
            </a:r>
            <a:endParaRPr lang="en-US" sz="1450" dirty="0"/>
          </a:p>
          <a:p>
            <a:pPr rtl="1" algn="r"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Agent triggers</a:t>
            </a:r>
            <a:pPr rtl="1" algn="r" indent="0" marL="0">
              <a:buNone/>
            </a:pPr>
            <a:r>
              <a:rPr lang="en-US" sz="14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במקרי גבול (</a:t>
            </a:r>
            <a:pPr rtl="1" algn="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0.3–0.7</a:t>
            </a:r>
            <a:pPr rtl="1" algn="r" indent="0" marL="0">
              <a:buNone/>
            </a:pPr>
            <a:r>
              <a:rPr lang="en-US" sz="14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ותמיד ב-</a:t>
            </a:r>
            <a:pPr rtl="1" algn="r"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violence</a:t>
            </a:r>
            <a:endParaRPr lang="en-US" sz="1450" dirty="0"/>
          </a:p>
          <a:p>
            <a:pPr rtl="1" algn="r"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sent</a:t>
            </a:r>
            <a:pPr rtl="1" algn="r" indent="0" marL="0">
              <a:buNone/>
            </a:pPr>
            <a:r>
              <a:rPr lang="en-US" sz="145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בהתרעה ישירה (</a:t>
            </a:r>
            <a:pPr rtl="1" algn="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abusive/hate</a:t>
            </a:r>
            <a:pPr rtl="1" algn="r" indent="0" marL="0">
              <a:buNone/>
            </a:pPr>
            <a:r>
              <a:rPr lang="en-US" sz="145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ודאי או </a:t>
            </a:r>
            <a:pPr rtl="1" algn="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pornographic</a:t>
            </a:r>
            <a:pPr rtl="1" algn="r" indent="0" marL="0">
              <a:buNone/>
            </a:pPr>
            <a:r>
              <a:rPr lang="en-US" sz="145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או כש-</a:t>
            </a:r>
            <a:pPr rtl="1" algn="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Agent</a:t>
            </a:r>
            <a:pPr rtl="1" algn="r"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מאשר פגיעה בהקשר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Shomer.AI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2801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 → Maps to the Architecture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אותה מערכת בדיוק נבחנת בשני תנאים — עם הקשר ובלעדיו — כדי לבודד את תרומת ההקשר השיחתי.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972800" cy="1508760"/>
          </a:xfrm>
          <a:prstGeom prst="roundRect">
            <a:avLst>
              <a:gd name="adj" fmla="val 6061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27632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האם הוספת </a:t>
            </a:r>
            <a:pPr rtl="1" algn="r" indent="0" marL="0">
              <a:buNone/>
            </a:pPr>
            <a:r>
              <a:rPr lang="en-US" sz="1900" b="1" dirty="0">
                <a:solidFill>
                  <a:srgbClr val="27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context</a:t>
            </a:r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מפחיתה את שיעור ה-</a:t>
            </a:r>
            <a:pPr rtl="1" algn="r" indent="0" marL="0">
              <a:buNone/>
            </a:pPr>
            <a:r>
              <a:rPr lang="en-US" sz="1900" b="1" dirty="0">
                <a:solidFill>
                  <a:srgbClr val="27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false-positives</a:t>
            </a:r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בסיווג בריונות בעברית — מבלי לפגוע ב-</a:t>
            </a:r>
            <a:pPr rtl="1" algn="r" indent="0" marL="0">
              <a:buNone/>
            </a:pPr>
            <a:r>
              <a:rPr lang="en-US" sz="1900" b="1" dirty="0">
                <a:solidFill>
                  <a:srgbClr val="27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9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(אותה מערכת בדיוק, מתג אחד מתהפך)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291840"/>
            <a:ext cx="534924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10128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context-aware  (treatment)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40690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690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DictaBERT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14600" y="4389120"/>
            <a:ext cx="320040" cy="0"/>
          </a:xfrm>
          <a:prstGeom prst="line">
            <a:avLst/>
          </a:prstGeom>
          <a:noFill/>
          <a:ln w="25400">
            <a:solidFill>
              <a:srgbClr val="6B7A8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40690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40690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Agent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49377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קורא את 5 התורים הקודמים ושופט אם ההודעה פוגענית לאור השיחה.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2918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5400">
            <a:solidFill>
              <a:srgbClr val="6B7A8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3291840"/>
            <a:ext cx="5349240" cy="566928"/>
          </a:xfrm>
          <a:prstGeom prst="rect">
            <a:avLst/>
          </a:prstGeom>
          <a:solidFill>
            <a:srgbClr val="6B7A8D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310128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context-blind  (baseline)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83680" y="40690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0690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DictaBERT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92240" y="49377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קורא הודעה בודדת בלבד, ללא זיכרון של השיחה.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החיבור לארכיטקטורה: </a:t>
            </a:r>
            <a:pPr rtl="1" algn="r"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Agent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הוא בדיוק זרוע ה-treatment. מתג 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CONTEXT_AGENT_ENABLED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false/true מחליף בין שתי הזרועות.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Shomer.AI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2801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DictaBERT? (Model Choice)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בחרנו במודל עברי ייעודי, מהיר ומקומי — ולא ב-LLM כללי או במודל מדף — מהסיבות הבאות.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3152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1691640"/>
                <a:gridCol w="16916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Criterion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DictaBERT  (chosen)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General LLM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Ollama (off-the-shelf)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Hebrew-native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6D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 (macro-F1)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A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 / latency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fast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6D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6D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· local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$$ per call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7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· local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Privacy (on-prem)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cloud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7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Fits 'always-on' 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A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too costly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low quality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0" y="1783080"/>
            <a:ext cx="3520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Hebrew-native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</a:t>
            </a:r>
            <a:pPr rtl="1" algn="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עברי שעבר אימון-קדם על עברית; מבין מורפולוגיה שמודלים אנגליים מפספסים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macro-F1 </a:t>
            </a:r>
            <a:pPr rtl="1" algn="r"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0.836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מול </a:t>
            </a:r>
            <a:pPr rtl="1" algn="r"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0.373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של 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pPr rtl="1" algn="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על אותו מבחן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פי </a:t>
            </a:r>
            <a:pPr rtl="1" algn="r"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424</a:t>
            </a:r>
            <a:pPr rtl="1" algn="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מהיר; מתאים לסריקה שוטפת בזמן אמת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pPr rtl="1" algn="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ריצה מקומית, ללא ענן; נתוני הילדים אינם יוצאים החוצה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cost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אינפרנס מקומי חינמי, מול תשלום לכל קריאת </a:t>
            </a:r>
            <a:pPr rtl="1" algn="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tool per job</a:t>
            </a:r>
            <a:pPr rtl="1" algn="r" indent="0" marL="0">
              <a:buNone/>
            </a:pPr>
            <a:r>
              <a:rPr lang="en-US" sz="140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DictaBERT</a:t>
            </a:r>
            <a:pPr rtl="1" algn="r" indent="0" marL="0">
              <a:buNone/>
            </a:pPr>
            <a:r>
              <a:rPr lang="en-US" sz="140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גלאי מהיר; 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Context Agent</a:t>
            </a:r>
            <a:pPr rtl="1" algn="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רק למקרי גבול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Shomer.AI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2801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Data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אומן על תערובת של עברית אמיתית ונתונים סינתטיים, והוערך על נתונים אמיתיים בלבד.</a:t>
            </a:r>
            <a:endParaRPr lang="en-US" sz="1400" dirty="0"/>
          </a:p>
        </p:txBody>
      </p:sp>
      <p:pic>
        <p:nvPicPr>
          <p:cNvPr id="5" name="Image 0" descr="C:\AIDevelopmentCourse\Shomer.AI\assets\dataset_classes.png">    </p:cNvPr>
          <p:cNvPicPr>
            <a:picLocks noChangeAspect="1"/>
          </p:cNvPicPr>
          <p:nvPr/>
        </p:nvPicPr>
        <p:blipFill>
          <a:blip r:embed="rId1"/>
          <a:srcRect l="-42000" r="-42000" t="0" b="0"/>
          <a:stretch/>
        </p:blipFill>
        <p:spPr>
          <a:xfrm>
            <a:off x="411480" y="1554480"/>
            <a:ext cx="4206240" cy="2286000"/>
          </a:xfrm>
          <a:prstGeom prst="rect">
            <a:avLst/>
          </a:prstGeom>
        </p:spPr>
      </p:pic>
      <p:pic>
        <p:nvPicPr>
          <p:cNvPr id="6" name="Image 1" descr="C:\AIDevelopmentCourse\Shomer.AI\assets\dataset_sources.png">    </p:cNvPr>
          <p:cNvPicPr>
            <a:picLocks noChangeAspect="1"/>
          </p:cNvPicPr>
          <p:nvPr/>
        </p:nvPicPr>
        <p:blipFill>
          <a:blip r:embed="rId2"/>
          <a:srcRect l="-44340" r="-44340" t="0" b="0"/>
          <a:stretch/>
        </p:blipFill>
        <p:spPr>
          <a:xfrm>
            <a:off x="320040" y="3977640"/>
            <a:ext cx="4572000" cy="2423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46320" y="1645920"/>
            <a:ext cx="67665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60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היקף: </a:t>
            </a:r>
            <a:pPr rtl="1" algn="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pPr rtl="1" algn="r" indent="0" marL="0">
              <a:buNone/>
            </a:pPr>
            <a:r>
              <a:rPr lang="en-US" sz="160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rtl="1" algn="r" indent="0" marL="0">
              <a:buNone/>
            </a:pPr>
            <a:r>
              <a:rPr lang="en-US" sz="16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7,974</a:t>
            </a:r>
            <a:pPr rtl="1" algn="r" indent="0" marL="0">
              <a:buNone/>
            </a:pPr>
            <a:r>
              <a:rPr lang="en-US" sz="160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rtl="1" algn="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pPr rtl="1" algn="r" indent="0" marL="0">
              <a:buNone/>
            </a:pPr>
            <a:r>
              <a:rPr lang="en-US" sz="160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rtl="1" algn="r" indent="0" marL="0">
              <a:buNone/>
            </a:pPr>
            <a:r>
              <a:rPr lang="en-US" sz="16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888</a:t>
            </a:r>
            <a:pPr rtl="1" algn="r" indent="0" marL="0">
              <a:buNone/>
            </a:pPr>
            <a:r>
              <a:rPr lang="en-US" sz="160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rtl="1" algn="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pPr rtl="1" algn="r" indent="0" marL="0">
              <a:buNone/>
            </a:pPr>
            <a:r>
              <a:rPr lang="en-US" sz="160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rtl="1" algn="r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445</a:t>
            </a:r>
            <a:endParaRPr lang="en-US" sz="1600" dirty="0"/>
          </a:p>
          <a:p>
            <a:pPr rtl="1"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6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מחלקות: </a:t>
            </a:r>
            <a:pPr rtl="1" algn="r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non-offensive · abusive · hate · violence · pornographic</a:t>
            </a:r>
            <a:endParaRPr lang="en-US" sz="1600" dirty="0"/>
          </a:p>
          <a:p>
            <a:pPr rtl="1"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6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מקורות: </a:t>
            </a:r>
            <a:pPr rtl="1" algn="r" indent="0" marL="0">
              <a:buNone/>
            </a:pPr>
            <a:r>
              <a:rPr lang="en-US" sz="16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~57%</a:t>
            </a:r>
            <a:pPr rtl="1" algn="r" indent="0" marL="0">
              <a:buNone/>
            </a:pPr>
            <a:r>
              <a:rPr lang="en-US" sz="16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עברית אמיתית (</a:t>
            </a:r>
            <a:pPr rtl="1" algn="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SinaLab + textDetox</a:t>
            </a:r>
            <a:pPr rtl="1" algn="r" indent="0" marL="0">
              <a:buNone/>
            </a:pPr>
            <a:r>
              <a:rPr lang="en-US" sz="16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pPr rtl="1" algn="r" indent="0" marL="0">
              <a:buNone/>
            </a:pPr>
            <a:r>
              <a:rPr lang="en-US" sz="16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~36%</a:t>
            </a:r>
            <a:pPr rtl="1" algn="r" indent="0" marL="0">
              <a:buNone/>
            </a:pPr>
            <a:r>
              <a:rPr lang="en-US" sz="16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סינתטי (</a:t>
            </a:r>
            <a:pPr rtl="1" algn="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pPr rtl="1" algn="r" indent="0" marL="0">
              <a:buNone/>
            </a:pPr>
            <a:r>
              <a:rPr lang="en-US" sz="16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pPr rtl="1" algn="r" indent="0" marL="0">
              <a:buNone/>
            </a:pPr>
            <a:r>
              <a:rPr lang="en-US" sz="16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~7%</a:t>
            </a:r>
            <a:pPr rtl="1" algn="r" indent="0" marL="0">
              <a:buNone/>
            </a:pPr>
            <a:r>
              <a:rPr lang="en-US" sz="16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תרגום (</a:t>
            </a:r>
            <a:pPr rtl="1" algn="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Jigsaw</a:t>
            </a:r>
            <a:pPr rtl="1" algn="r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600" dirty="0"/>
          </a:p>
          <a:p>
            <a:pPr rtl="1"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6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התפלגות מודעת-שכיחות: </a:t>
            </a:r>
            <a:pPr rtl="1" algn="r" indent="0" marL="0">
              <a:buNone/>
            </a:pPr>
            <a:r>
              <a:rPr lang="en-US" sz="16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~48%</a:t>
            </a:r>
            <a:pPr rtl="1" algn="r" indent="0" marL="0">
              <a:buNone/>
            </a:pPr>
            <a:r>
              <a:rPr lang="en-US" sz="16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non-offensive ב-train, </a:t>
            </a:r>
            <a:pPr rtl="1" algn="r" indent="0" marL="0">
              <a:buNone/>
            </a:pPr>
            <a:r>
              <a:rPr lang="en-US" sz="16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</a:t>
            </a:r>
            <a:pPr rtl="1" algn="r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בהערכה — כמו בעולם האמיתי</a:t>
            </a:r>
            <a:endParaRPr lang="en-US" sz="1600" dirty="0"/>
          </a:p>
          <a:p>
            <a:pPr rtl="1"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6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עיקרון מנחה: </a:t>
            </a:r>
            <a:pPr rtl="1" algn="r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train-on-synthetic / eval-on-real</a:t>
            </a:r>
            <a:endParaRPr lang="en-US" sz="1600" dirty="0"/>
          </a:p>
          <a:p>
            <a:pPr rtl="1"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הערה כנה: חלק ממחלקות המיעוט בהערכה סינתטיות (</a:t>
            </a:r>
            <a:pPr rtl="1"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pornographic</a:t>
            </a:r>
            <a:pPr rtl="1" algn="r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100%) → מספרי המיעוט אופטימיים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4864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Shomer.AI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2801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Model Quality (DictaBERT)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המסווג שאימנו עובר את כל ספי הסף, מכויל היטב, ומנצח מודל מדף בפער גדול.</a:t>
            </a:r>
            <a:endParaRPr lang="en-US" sz="1400" dirty="0"/>
          </a:p>
        </p:txBody>
      </p:sp>
      <p:pic>
        <p:nvPicPr>
          <p:cNvPr id="5" name="Image 0" descr="C:\AIDevelopmentCourse\Shomer.AI\assets\model_quality.png">    </p:cNvPr>
          <p:cNvPicPr>
            <a:picLocks noChangeAspect="1"/>
          </p:cNvPicPr>
          <p:nvPr/>
        </p:nvPicPr>
        <p:blipFill>
          <a:blip r:embed="rId1"/>
          <a:srcRect l="-57500" r="-57500" t="0" b="0"/>
          <a:stretch/>
        </p:blipFill>
        <p:spPr>
          <a:xfrm>
            <a:off x="365760" y="1554480"/>
            <a:ext cx="786384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0" y="169164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03920" y="1691640"/>
            <a:ext cx="1554480" cy="9144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8" name="Text 5"/>
          <p:cNvSpPr/>
          <p:nvPr/>
        </p:nvSpPr>
        <p:spPr>
          <a:xfrm>
            <a:off x="8577072" y="1837944"/>
            <a:ext cx="14081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9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0.836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613648" y="2441448"/>
            <a:ext cx="1335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0149840" y="169164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149840" y="1691640"/>
            <a:ext cx="15544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10222992" y="1837944"/>
            <a:ext cx="14081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0.034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0259568" y="2441448"/>
            <a:ext cx="1335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 (calibration)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366760" y="3246120"/>
            <a:ext cx="34290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DictaBERT</a:t>
            </a:r>
            <a:pPr rtl="1" algn="r" indent="0" marL="0">
              <a:spcAft>
                <a:spcPts val="1100"/>
              </a:spcAft>
              <a:buNone/>
            </a:pPr>
            <a:r>
              <a:rPr lang="en-US" sz="145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עברי שאומן על-ידינו ל-5 מחלקות</a:t>
            </a:r>
            <a:endParaRPr lang="en-US" sz="1450" dirty="0"/>
          </a:p>
          <a:p>
            <a:pPr rtl="1" algn="r"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4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 </a:t>
            </a:r>
            <a:pPr rtl="1" algn="r" indent="0" marL="0">
              <a:buNone/>
            </a:pPr>
            <a:r>
              <a:rPr lang="en-US" sz="145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pPr rtl="1" algn="r" indent="0" marL="0">
              <a:buNone/>
            </a:pPr>
            <a:r>
              <a:rPr lang="en-US" sz="14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מדויק ופי </a:t>
            </a:r>
            <a:pPr rtl="1" algn="r" indent="0" marL="0">
              <a:buNone/>
            </a:pPr>
            <a:r>
              <a:rPr lang="en-US" sz="145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424</a:t>
            </a:r>
            <a:pPr rtl="1" algn="r" indent="0" marL="0">
              <a:buNone/>
            </a:pPr>
            <a:r>
              <a:rPr lang="en-US" sz="14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מהיר מ-</a:t>
            </a:r>
            <a:pPr rtl="1" algn="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pPr rtl="1" algn="r" indent="0" marL="0">
              <a:buNone/>
            </a:pPr>
            <a:r>
              <a:rPr lang="en-US" sz="14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rtl="1" algn="r" indent="0" marL="0">
              <a:buNone/>
            </a:pPr>
            <a:r>
              <a:rPr lang="en-US" sz="145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0.836</a:t>
            </a:r>
            <a:pPr rtl="1" algn="r" indent="0" marL="0">
              <a:buNone/>
            </a:pPr>
            <a:r>
              <a:rPr lang="en-US" sz="14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מול </a:t>
            </a:r>
            <a:pPr rtl="1" algn="r" indent="0" marL="0">
              <a:spcAft>
                <a:spcPts val="1100"/>
              </a:spcAft>
              <a:buNone/>
            </a:pPr>
            <a:r>
              <a:rPr lang="en-US" sz="145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0.373</a:t>
            </a:r>
            <a:endParaRPr lang="en-US" sz="1450" dirty="0"/>
          </a:p>
          <a:p>
            <a:pPr rtl="1" algn="r"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pPr rtl="1" algn="r" indent="0" marL="0">
              <a:buNone/>
            </a:pPr>
            <a:r>
              <a:rPr lang="en-US" sz="14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טוב (</a:t>
            </a:r>
            <a:pPr rtl="1" algn="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pPr rtl="1" algn="r" indent="0" marL="0">
              <a:buNone/>
            </a:pPr>
            <a:r>
              <a:rPr lang="en-US" sz="14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rtl="1" algn="r" indent="0" marL="0">
              <a:buNone/>
            </a:pPr>
            <a:r>
              <a:rPr lang="en-US" sz="145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0.034</a:t>
            </a:r>
            <a:pPr rtl="1" algn="r"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): הביטחון של המודל כן — לא מגזים ולא ממעיט</a:t>
            </a:r>
            <a:endParaRPr lang="en-US" sz="1450" dirty="0"/>
          </a:p>
          <a:p>
            <a:pPr rtl="1"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זוהי זרוע ה-</a:t>
            </a:r>
            <a:pPr rtl="1"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context-blind</a:t>
            </a:r>
            <a:pPr rtl="1" algn="r"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של הניסוי — וגם המסווג בייצור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7200" y="5715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</a:t>
            </a:r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average accuracy across all 5 classes (higher = better).   </a:t>
            </a:r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how honest the model's confidence is (lower = better).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Shomer.AI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2801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Conversational Context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בשני ניסויים, הוספת הקשר שיחתי מפחיתה התרעות-שווא ותופסת פגיעה נסתרת — לעומת סיווג ההודעה במנותק.</a:t>
            </a:r>
            <a:endParaRPr lang="en-US" sz="1400" dirty="0"/>
          </a:p>
        </p:txBody>
      </p:sp>
      <p:pic>
        <p:nvPicPr>
          <p:cNvPr id="5" name="Image 0" descr="C:\AIDevelopmentCourse\Shomer.AI\docs\research_question\plots\contribution_two_axes.png">    </p:cNvPr>
          <p:cNvPicPr>
            <a:picLocks noChangeAspect="1"/>
          </p:cNvPicPr>
          <p:nvPr/>
        </p:nvPicPr>
        <p:blipFill>
          <a:blip r:embed="rId1"/>
          <a:srcRect l="-50000" r="-50000" t="0" b="0"/>
          <a:stretch/>
        </p:blipFill>
        <p:spPr>
          <a:xfrm>
            <a:off x="365760" y="1508760"/>
            <a:ext cx="768096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83880" y="1600200"/>
            <a:ext cx="35661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</a:t>
            </a:r>
            <a:pPr rtl="1" algn="r" indent="0" marL="0">
              <a:buNone/>
            </a:pPr>
            <a:r>
              <a:rPr lang="en-US" sz="145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(61 שיחות): </a:t>
            </a:r>
            <a:pPr rtl="1" algn="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false-alarm rate</a:t>
            </a:r>
            <a:pPr rtl="1" algn="r" indent="0" marL="0">
              <a:buNone/>
            </a:pPr>
            <a:r>
              <a:rPr lang="en-US" sz="145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rtl="1" algn="r" indent="0" marL="0">
              <a:buNone/>
            </a:pPr>
            <a:r>
              <a:rPr lang="en-US" sz="145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55.9%</a:t>
            </a:r>
            <a:pPr rtl="1" algn="r" indent="0" marL="0">
              <a:buNone/>
            </a:pPr>
            <a:r>
              <a:rPr lang="en-US" sz="145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rtl="1" algn="r" indent="0" marL="0"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26.5%</a:t>
            </a:r>
            <a:endParaRPr lang="en-US" sz="145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ירידה של </a:t>
            </a:r>
            <a:pPr rtl="1" algn="r"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נקודות · 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0.002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McNemar</a:t>
            </a:r>
            <a:pPr rtl="1" algn="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מובהק</a:t>
            </a:r>
            <a:endParaRPr lang="en-US" sz="1450" dirty="0"/>
          </a:p>
          <a:p>
            <a:pPr rtl="1" algn="r"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2</a:t>
            </a:r>
            <a:pPr rtl="1" algn="r" indent="0" marL="0">
              <a:buNone/>
            </a:pPr>
            <a:r>
              <a:rPr lang="en-US" sz="145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(143 שיחות): </a:t>
            </a:r>
            <a:pPr rtl="1" algn="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 recall</a:t>
            </a:r>
            <a:pPr rtl="1" algn="r" indent="0" marL="0">
              <a:buNone/>
            </a:pPr>
            <a:r>
              <a:rPr lang="en-US" sz="145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rtl="1" algn="r" indent="0" marL="0">
              <a:buNone/>
            </a:pPr>
            <a:r>
              <a:rPr lang="en-US" sz="145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58.9%</a:t>
            </a:r>
            <a:pPr rtl="1" algn="r" indent="0" marL="0">
              <a:buNone/>
            </a:pPr>
            <a:r>
              <a:rPr lang="en-US" sz="145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rtl="1" algn="r" indent="0" marL="0"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82.1%</a:t>
            </a:r>
            <a:endParaRPr lang="en-US" sz="1450" dirty="0"/>
          </a:p>
          <a:p>
            <a:pPr rtl="1"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veiled threats</a:t>
            </a:r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rtl="1" algn="r"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→ 100%</a:t>
            </a:r>
            <a:pPr rtl="1" algn="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עם הקשר</a:t>
            </a:r>
            <a:endParaRPr lang="en-US" sz="1450" dirty="0"/>
          </a:p>
          <a:p>
            <a:pPr rtl="1" algn="r"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ההתרעה על המצב הפוגעני — לא על כל מילה גסה</a:t>
            </a:r>
            <a:endParaRPr lang="en-US" sz="1450" dirty="0"/>
          </a:p>
          <a:p>
            <a:pPr rtl="1"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סטטוס: </a:t>
            </a:r>
            <a:pPr rtl="1" algn="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/ feasibility</a:t>
            </a:r>
            <a:pPr rtl="1" algn="r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נתונים סינתטיים/מתויגים-עצמית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365760" y="5623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FPR</a:t>
            </a:r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false-alarm rate (lower better).   </a:t>
            </a:r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% of real harm caught.   </a:t>
            </a:r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</a:t>
            </a:r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 0.05 = the result is not luck.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Shomer.AI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5486400" cy="548640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128016" cy="822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04672" y="12070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מסקנות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</a:t>
            </a:r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context</a:t>
            </a:r>
            <a:pPr rtl="1" algn="r" indent="0" marL="0">
              <a:spcAft>
                <a:spcPts val="1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משפר מהותית את דיוק הסיווג בעברית</a:t>
            </a:r>
            <a:endParaRPr lang="en-US" sz="1900" dirty="0"/>
          </a:p>
          <a:p>
            <a:pPr rtl="1" algn="r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ההקשר עוזר בשני הצירים: מפחית </a:t>
            </a:r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</a:t>
            </a:r>
            <a:pPr rtl="1" algn="r" indent="0" marL="0">
              <a:spcAft>
                <a:spcPts val="1500"/>
              </a:spcAft>
              <a:buNone/>
            </a:pPr>
            <a:r>
              <a:rPr lang="en-US" sz="1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וגם תופס פגיעה נסתרת</a:t>
            </a:r>
            <a:endParaRPr lang="en-US" sz="1900" dirty="0"/>
          </a:p>
          <a:p>
            <a:pPr rtl="1" algn="r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spcAft>
                <a:spcPts val="1500"/>
              </a:spcAft>
              <a:buNone/>
            </a:pPr>
            <a:r>
              <a:rPr lang="en-US" sz="1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הגדרת היעד הנכונה היא המצב הפוגעני — לא המילה הבודדת</a:t>
            </a:r>
            <a:endParaRPr lang="en-US" sz="1900" dirty="0"/>
          </a:p>
          <a:p>
            <a:pPr rtl="1" algn="r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spcAft>
                <a:spcPts val="1500"/>
              </a:spcAft>
              <a:buNone/>
            </a:pPr>
            <a:r>
              <a:rPr lang="en-US" sz="1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מודולרית עובדת מקצה-לקצה ומשמשת גם כמעבדת ניסוי הניתנת לשחזור</a:t>
            </a:r>
            <a:endParaRPr lang="en-US" sz="1900" dirty="0"/>
          </a:p>
          <a:p>
            <a:pPr rtl="1" algn="r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9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סטטוס כן: </a:t>
            </a:r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pPr rtl="1" algn="r" indent="0" marL="0">
              <a:buNone/>
            </a:pPr>
            <a:r>
              <a:rPr lang="en-US" sz="19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הכיוון והמובהקות חזקים; הגודל המדויק דורש </a:t>
            </a:r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gold-set</a:t>
            </a:r>
            <a:pPr rtl="1" algn="r" indent="0" marL="0">
              <a:spcAft>
                <a:spcPts val="1500"/>
              </a:spcAft>
              <a:buNone/>
            </a:pPr>
            <a:r>
              <a:rPr lang="en-US" sz="19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אמיתי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198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Shomer.AI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198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2801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הכיוונים שיהפכו את הוכחת ההיתכנות למחקר בר-פרסום ולמוצר בר-פריסה.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97680" y="1737360"/>
            <a:ext cx="7360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80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gold-set</a:t>
            </a:r>
            <a:pPr rtl="1" algn="r" indent="0" marL="0">
              <a:buNone/>
            </a:pPr>
            <a:r>
              <a:rPr lang="en-US" sz="180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אמיתי, מאונוטט ידנית (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Cohen's κ</a:t>
            </a:r>
            <a:pPr rtl="1" algn="r" indent="0" marL="0"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23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→ מספר תוצאה אמין לפרסום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פריסת 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pPr rtl="1" algn="r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מחקרי בשיתוף מוסדות חינוך ורשויות מקומיות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תמיכה בפלטפורמות נוספות (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Telegram, TikTok</a:t>
            </a:r>
            <a:pPr rtl="1" algn="r" indent="0" marL="0"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ו-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</a:t>
            </a:r>
            <a:pPr rtl="1" algn="r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לפרטיות מוגברת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סיווג 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</a:t>
            </a:r>
            <a:pPr rtl="1" algn="r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אנגלית ורוסית בהקשר הישראלי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  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E6</a:t>
            </a:r>
            <a:pPr rtl="1" algn="r" indent="0" marL="0"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השוואת 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context-agent</a:t>
            </a:r>
            <a:pPr rtl="1" algn="r" indent="0" marL="0"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מול 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concatenation</a:t>
            </a:r>
            <a:pPr rtl="1" algn="r" indent="0" marL="0"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תרומה לספרות (</a:t>
            </a:r>
            <a:pPr rtl="1"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Pavlopoulos 2020</a:t>
            </a:r>
            <a:pPr rtl="1" algn="r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658368" cy="65836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28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82880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gold-set אמיתי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743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274320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פיילוט בבתי-ספר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657600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6576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65760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פלטפורמות נוספות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4572000"/>
            <a:ext cx="658368" cy="658368"/>
          </a:xfrm>
          <a:prstGeom prst="ellipse">
            <a:avLst/>
          </a:prstGeom>
          <a:solidFill>
            <a:srgbClr val="F2B705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5720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57200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5486400"/>
            <a:ext cx="658368" cy="658368"/>
          </a:xfrm>
          <a:prstGeom prst="ellipse">
            <a:avLst/>
          </a:prstGeom>
          <a:solidFill>
            <a:srgbClr val="E45756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54864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548640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תרומה לספרות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Shomer.AI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Shomer.AI</dc:title>
  <dc:subject>PptxGenJS Presentation</dc:subject>
  <dc:creator>Alona Musiyko</dc:creator>
  <cp:lastModifiedBy>Alona Musiyko</cp:lastModifiedBy>
  <cp:revision>1</cp:revision>
  <dcterms:created xsi:type="dcterms:W3CDTF">2026-06-12T10:35:55Z</dcterms:created>
  <dcterms:modified xsi:type="dcterms:W3CDTF">2026-06-12T10:35:55Z</dcterms:modified>
</cp:coreProperties>
</file>